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384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292608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IBM FileNet P8 V5.6.x  |  Corporate Training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A93C"/>
                </a:solidFill>
              </a:rPr>
              <a:t>Day 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Enterprise Content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Management &amp;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FileNet Overview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Administration &amp; Development Training — 10 Days | 40 Hours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4389120"/>
            <a:ext cx="77724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Rajesh Pasham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4983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Corporate ECM Trainer  |  IBM Certified FileNet P8 Professional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5349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A93C"/>
                </a:solidFill>
              </a:rPr>
              <a:t>Certification Alignment: IBM C1000-074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3017520" cy="6858000"/>
          </a:xfrm>
          <a:prstGeom prst="rect">
            <a:avLst/>
          </a:prstGeom>
          <a:solidFill>
            <a:srgbClr val="162F4E"/>
          </a:solidFill>
          <a:ln w="12700">
            <a:solidFill>
              <a:srgbClr val="162F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640080"/>
            <a:ext cx="256032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640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ECM Fundamentals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26880" y="1828800"/>
            <a:ext cx="2560320" cy="914400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FileNet Product Suite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26880" y="3017520"/>
            <a:ext cx="256032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Content Lifecycle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26880" y="4206240"/>
            <a:ext cx="2560320" cy="914400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4206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Platform Capabilities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6880" y="5394960"/>
            <a:ext cx="256032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5394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Lab: Explore FileNet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Day 1 — Session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</a:rPr>
              <a:t>4 Hours | Enterprise Content Management &amp; FileNet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2024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234440"/>
            <a:ext cx="9509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234440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Introduction to Enterprise Content Management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1920240" cy="7132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30552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2130552"/>
            <a:ext cx="9509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2130552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IBM FileNet Product Suite Overview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026664"/>
            <a:ext cx="1920240" cy="71323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26664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3026664"/>
            <a:ext cx="9509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68880" y="3026664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3A5F"/>
                </a:solidFill>
              </a:rPr>
              <a:t>Break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922776"/>
            <a:ext cx="192024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22776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3922776"/>
            <a:ext cx="9509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68880" y="3922776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FileNet Platform Capabilities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4818888"/>
            <a:ext cx="1920240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1888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0" y="4818888"/>
            <a:ext cx="9509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68880" y="4818888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Lab: Explore FileNet Platform Components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5760" y="5715000"/>
            <a:ext cx="1920240" cy="7132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71500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5715000"/>
            <a:ext cx="9509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468880" y="5715000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Q&amp;A, Review &amp; Day 1 Summary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Rajesh Pasham  |  IBM FileNet P8 V5.6.x Training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Enterprise Content Management?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430000" cy="1005840"/>
          </a:xfrm>
          <a:prstGeom prst="rect">
            <a:avLst/>
          </a:prstGeom>
          <a:solidFill>
            <a:srgbClr val="EBF3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3A5F"/>
                </a:solidFill>
              </a:rPr>
              <a:t>"ECM is the systematic management of an organization's unstructured information — throughout its entire lifecycle — to support business operations, ensure compliance, and drive efficiency."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365760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945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93C"/>
                </a:solidFill>
              </a:rPr>
              <a:t>Volume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80-90% of enterprise data is unstructured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657600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21945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93C"/>
                </a:solidFill>
              </a:rPr>
              <a:t>Compliance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25603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GDPR, SOX, HIPAA, FDA regulations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103120"/>
            <a:ext cx="365760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21945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93C"/>
                </a:solidFill>
              </a:rPr>
              <a:t>Cost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25603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Reduce paper, storage and retrieval costs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3657600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93C"/>
                </a:solidFill>
              </a:rPr>
              <a:t>Speed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Faster decisions with instant content access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97680" y="3657600"/>
            <a:ext cx="365760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3484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93C"/>
                </a:solidFill>
              </a:rPr>
              <a:t>Risk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34840" y="4114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Protect against unauthorized access and loss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0" y="3657600"/>
            <a:ext cx="3657600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6676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93C"/>
                </a:solidFill>
              </a:rPr>
              <a:t>Collaboration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66760" y="4114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Teams work on shared, controlled content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Rajesh Pasham  |  Day 1: ECM &amp; FileNet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Structured vs. Unstructured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0352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STRUCTURED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00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•  Database records (SQL)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671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•  ERP transactions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•  Spreadsheet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0098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•  CRM contact records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86791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•  Financial ledger entries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</a:rPr>
              <a:t>∼ 20% of enterprise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914400"/>
            <a:ext cx="53035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914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UNSTRUCTURED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146304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4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600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•  Office documents (Word, PDF)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1671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•  Emails &amp; correspondence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273405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•  Scanned images &amp; forms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330098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•  Engineering drawings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86791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•  Audio / video files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44348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∼ 80% of enterprise data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40680" y="2926080"/>
            <a:ext cx="1280160" cy="1280160"/>
          </a:xfrm>
          <a:prstGeom prst="ellipse">
            <a:avLst/>
          </a:prstGeom>
          <a:solidFill>
            <a:srgbClr val="D9A93C"/>
          </a:solidFill>
          <a:ln w="12700">
            <a:solidFill>
              <a:srgbClr val="D9A9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926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VS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65760" y="5486400"/>
            <a:ext cx="11430000" cy="640080"/>
          </a:xfrm>
          <a:prstGeom prst="rect">
            <a:avLst/>
          </a:prstGeom>
          <a:solidFill>
            <a:srgbClr val="E8F7EE"/>
          </a:solidFill>
          <a:ln w="12700">
            <a:solidFill>
              <a:srgbClr val="A8D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5C30"/>
                </a:solidFill>
              </a:rPr>
              <a:t>💡  IBM FileNet P8 primarily manages UNSTRUCTURED content — documents, images, emails, and more — making up 80-90% of all enterprise data.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Rajesh Pasham  |  Day 1: ECM &amp; FileNet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Content Lifecycle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73736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1. Capture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737360" cy="256032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Scan, import, email capture, web forms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03120" y="1325880"/>
            <a:ext cx="16459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1005840"/>
            <a:ext cx="1737360" cy="64008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1005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2. Manage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67712" y="1645920"/>
            <a:ext cx="1737360" cy="256032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59152" y="169164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Classify, index, version control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05072" y="1325880"/>
            <a:ext cx="16459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9664" y="1005840"/>
            <a:ext cx="1737360" cy="6400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9664" y="1005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3. Store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69664" y="1645920"/>
            <a:ext cx="1737360" cy="256032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61104" y="169164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Object stores, storage areas, archiving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07024" y="1325880"/>
            <a:ext cx="16459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1005840"/>
            <a:ext cx="173736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1005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4. Preserve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71616" y="1645920"/>
            <a:ext cx="1737360" cy="256032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63056" y="169164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Retention policies, WORM, audit trails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08976" y="1325880"/>
            <a:ext cx="16459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3568" y="1005840"/>
            <a:ext cx="1737360" cy="640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1005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5. Deliver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73568" y="1645920"/>
            <a:ext cx="1737360" cy="256032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65008" y="169164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Search, workflow routing, publishing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710928" y="1325880"/>
            <a:ext cx="16459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0" y="1005840"/>
            <a:ext cx="1737360" cy="64008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0" y="1005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6. Dispose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875520" y="1645920"/>
            <a:ext cx="1737360" cy="256032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966960" y="169164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Disposition, legal holds, deletion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389120"/>
            <a:ext cx="11430000" cy="1097280"/>
          </a:xfrm>
          <a:prstGeom prst="rect">
            <a:avLst/>
          </a:prstGeom>
          <a:solidFill>
            <a:srgbClr val="EBF3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4348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3A5F"/>
                </a:solidFill>
              </a:rPr>
              <a:t>Key Principle: Content doesn't just get stored — it follows a managed lifecycle from creation through disposition. FileNet P8 provides tools for managing EVERY phase.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5577840"/>
            <a:ext cx="53035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557784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🔒  Records Management: Formally declare content as a record, making it immutable and subject to retention schedules.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26480" y="5577840"/>
            <a:ext cx="5669280" cy="7315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55778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⚖️  Legal Hold: Suspend normal disposal rules to preserve content for litigation — even after retention period ends.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Rajesh Pasham  |  Day 1: ECM &amp; FileNet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Governance &amp; Compliance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</a:rPr>
              <a:t>Major Regulatory Frameworks Addressed by IBM FileNet P8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0116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GDPR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77440" y="1325880"/>
            <a:ext cx="2926080" cy="749808"/>
          </a:xfrm>
          <a:prstGeom prst="rect">
            <a:avLst/>
          </a:prstGeom>
          <a:solidFill>
            <a:srgbClr val="E8EFF8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32588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All Industries (EU)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325880"/>
            <a:ext cx="6492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325880"/>
            <a:ext cx="6309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Right to erasure, data minimization, consent tracking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21992"/>
            <a:ext cx="2011680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2199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SOX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77440" y="2221992"/>
            <a:ext cx="2926080" cy="749808"/>
          </a:xfrm>
          <a:prstGeom prst="rect">
            <a:avLst/>
          </a:prstGeom>
          <a:solidFill>
            <a:srgbClr val="E8EFF8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221992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Public Companies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2221992"/>
            <a:ext cx="6492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2221992"/>
            <a:ext cx="6309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Financial records retained 7 years, full audit trails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18104"/>
            <a:ext cx="20116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18104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HIPAA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77440" y="3118104"/>
            <a:ext cx="2926080" cy="749808"/>
          </a:xfrm>
          <a:prstGeom prst="rect">
            <a:avLst/>
          </a:prstGeom>
          <a:solidFill>
            <a:srgbClr val="E8EFF8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3118104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3118104"/>
            <a:ext cx="6492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3118104"/>
            <a:ext cx="6309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Patient data protection, audit logs, access controls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014216"/>
            <a:ext cx="2011680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14216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FDA 21 CFR Part 11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377440" y="4014216"/>
            <a:ext cx="2926080" cy="749808"/>
          </a:xfrm>
          <a:prstGeom prst="rect">
            <a:avLst/>
          </a:prstGeom>
          <a:solidFill>
            <a:srgbClr val="E8EFF8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4014216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Pharmaceutical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03520" y="4014216"/>
            <a:ext cx="6492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4014216"/>
            <a:ext cx="6309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Electronic records, digital signatures, system validation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910328"/>
            <a:ext cx="20116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10328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SEC Rule 17a-4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377440" y="4910328"/>
            <a:ext cx="2926080" cy="749808"/>
          </a:xfrm>
          <a:prstGeom prst="rect">
            <a:avLst/>
          </a:prstGeom>
          <a:solidFill>
            <a:srgbClr val="E8EFF8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4910328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Financial Services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03520" y="4910328"/>
            <a:ext cx="6492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4910328"/>
            <a:ext cx="6309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Immutable records, WORM storage compliance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solidFill>
            <a:srgbClr val="D9A93C">
              <a:alpha val="80000"/>
            </a:srgbClr>
          </a:solidFill>
          <a:ln w="12700">
            <a:solidFill>
              <a:srgbClr val="D9A9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3000"/>
                </a:solidFill>
              </a:rPr>
              <a:t>🚨  Non-compliance fines can reach millions — ECM is not optional; it's a business-critical infrastructure.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Rajesh Pasham  |  Day 1: ECM &amp; FileNet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IBM FileNet P8 Product Suite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E75B6"/>
                </a:solidFill>
              </a:rPr>
              <a:t>Four Core Components — Working Together to Deliver Enterprise ECM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005840" cy="2194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65760" y="1371600"/>
            <a:ext cx="1005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CPE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50876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Content Platform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90195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93C"/>
                </a:solidFill>
              </a:rPr>
              <a:t>Core Repository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63040" y="2194560"/>
            <a:ext cx="4343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Document storage, metadata management, security enforcement, event handling, versioning, and records management. The foundation everything else depends 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371600"/>
            <a:ext cx="1005840" cy="2194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16200000">
            <a:off x="6263640" y="1371600"/>
            <a:ext cx="1005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60920" y="150876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</a:rPr>
              <a:t>Process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60920" y="190195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93C"/>
                </a:solidFill>
              </a:rPr>
              <a:t>Workflow Automation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60920" y="2194560"/>
            <a:ext cx="4343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Models, executes, and monitors business processes. Provides work queues, routing logic, escalation, and step processors for document-centric workflows.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94760"/>
            <a:ext cx="1005840" cy="21945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 rot="16200000">
            <a:off x="365760" y="3794760"/>
            <a:ext cx="1005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ICN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393192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C"/>
                </a:solidFill>
              </a:rPr>
              <a:t>IBM Content Navigator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432511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93C"/>
                </a:solidFill>
              </a:rPr>
              <a:t>User Interface Layer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63040" y="4617720"/>
            <a:ext cx="4343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Modern web-based UI for end users. Plugin framework for customization, role-based desktop configuration, and multi-repository search and browsing.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794760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3794760"/>
            <a:ext cx="1005840" cy="21945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 rot="16200000">
            <a:off x="6263640" y="3794760"/>
            <a:ext cx="1005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CM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60920" y="393192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2FC9"/>
                </a:solidFill>
              </a:rPr>
              <a:t>Case Manager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60920" y="432511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93C"/>
                </a:solidFill>
              </a:rPr>
              <a:t>Knowledge Work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60920" y="4617720"/>
            <a:ext cx="4343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Extends FileNet for complex, ad-hoc situations. Manages cases with associated documents, activities, and team collaboration across the case lifecycle.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Rajesh Pasham  |  Day 1: ECM &amp; FileNet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Content Platform Engine (CPE) — Deep Dive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Core Capabilities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09728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Document Storage &amp; Retrieval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17190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Manages content files in Object Stores with full metadata indexing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12848"/>
            <a:ext cx="109728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585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Version Control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25603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Check-in/Check-out with complete version history and rollback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54096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54096"/>
            <a:ext cx="109728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0998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Security Enforcement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34015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Access Control Lists (ACLs) at object and property level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95344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95344"/>
            <a:ext cx="109728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9410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Event Handling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424281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Subscriptions and event actions triggered by document lifecycle events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736592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736592"/>
            <a:ext cx="109728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7823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Records Management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508406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Formal records declaration, retention, and disposition enforcement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5577840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5577840"/>
            <a:ext cx="109728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56235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Full-text Search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59253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Indexed content search via IBM Content Search Services (CSS)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Organizational Hierarchy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95160" y="1417320"/>
            <a:ext cx="41148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95160" y="141732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FileNet Domain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95360" y="2075688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</a:rPr>
              <a:t>▼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15200" y="2377440"/>
            <a:ext cx="347472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0" y="237744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 Store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95360" y="3035808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</a:rPr>
              <a:t>▼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35240" y="3337560"/>
            <a:ext cx="2834640" cy="658368"/>
          </a:xfrm>
          <a:prstGeom prst="rect">
            <a:avLst/>
          </a:prstGeom>
          <a:solidFill>
            <a:srgbClr val="3A8FC9"/>
          </a:solidFill>
          <a:ln w="12700">
            <a:solidFill>
              <a:srgbClr val="3A8FC9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35240" y="333756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Storage Area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95360" y="3995928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</a:rPr>
              <a:t>▼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909560" y="4297680"/>
            <a:ext cx="2286000" cy="658368"/>
          </a:xfrm>
          <a:prstGeom prst="rect">
            <a:avLst/>
          </a:prstGeom>
          <a:solidFill>
            <a:srgbClr val="4AABDB"/>
          </a:solidFill>
          <a:ln w="12700">
            <a:solidFill>
              <a:srgbClr val="4AABDB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909560" y="429768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 Classes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95360" y="4956048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</a:rPr>
              <a:t>▼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138160" y="5257800"/>
            <a:ext cx="1828800" cy="658368"/>
          </a:xfrm>
          <a:prstGeom prst="rect">
            <a:avLst/>
          </a:prstGeom>
          <a:solidFill>
            <a:srgbClr val="5DC0ED"/>
          </a:solidFill>
          <a:ln w="12700">
            <a:solidFill>
              <a:srgbClr val="5DC0ED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138160" y="52578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Documents &amp; Folders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Rajesh Pasham  |  Day 1: ECM &amp; FileNet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Process Engine &amp; IBM Content Navigator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0352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 Engine (PE) — Workflow Automation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303520" cy="685800"/>
          </a:xfrm>
          <a:prstGeom prst="rect">
            <a:avLst/>
          </a:prstGeom>
          <a:solidFill>
            <a:srgbClr val="EBF3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Work Queues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5544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Containers holding items awaiting user action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5303520" cy="68580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31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Process Maps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23317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Visual workflow diagrams designed in Process Designer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5303520" cy="685800"/>
          </a:xfrm>
          <a:prstGeom prst="rect">
            <a:avLst/>
          </a:prstGeom>
          <a:solidFill>
            <a:srgbClr val="EBF3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08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Step Processors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31089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Business logic executed at each workflow step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5303520" cy="68580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86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Routing Logic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38862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Sequential, parallel, conditional branching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5303520" cy="685800"/>
          </a:xfrm>
          <a:prstGeom prst="rect">
            <a:avLst/>
          </a:prstGeom>
          <a:solidFill>
            <a:srgbClr val="EBF3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63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Timers &amp; Escalations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46634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Deadline management and automatic reassignment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5394960"/>
            <a:ext cx="5303520" cy="68580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440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Event Actions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54406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Triggers that start workflows from content events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914400"/>
            <a:ext cx="5577840" cy="502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9144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IBM Content Navigator (ICN) — User Interface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1508760"/>
            <a:ext cx="5577840" cy="68580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554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</a:rPr>
              <a:t>Document Browsing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58200" y="15544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Navigate folders, preview &amp; download content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2286000"/>
            <a:ext cx="5577840" cy="68580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3317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</a:rPr>
              <a:t>Search Templates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58200" y="23317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Saved parameterized searches for quick retrieval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3063240"/>
            <a:ext cx="5577840" cy="68580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1089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</a:rPr>
              <a:t>Teamspaces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8200" y="310896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Collaborative workspaces for project teams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0" y="3840480"/>
            <a:ext cx="5577840" cy="68580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886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</a:rPr>
              <a:t>Plugin Framework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58200" y="38862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Extend ICN with custom Java plugins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4617720"/>
            <a:ext cx="5577840" cy="685800"/>
          </a:xfrm>
          <a:prstGeom prst="rect">
            <a:avLst/>
          </a:prstGeom>
          <a:solidFill>
            <a:srgbClr val="E8F5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4663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</a:rPr>
              <a:t>Role-based Desktops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58200" y="46634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Different UI configurations per user role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17920" y="5394960"/>
            <a:ext cx="5577840" cy="685800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5440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</a:rPr>
              <a:t>Workflow Integration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58200" y="54406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</a:rPr>
              <a:t>Process work items directly from ICN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Rajesh Pasham  |  Day 1: ECM &amp; FileNet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FileNet Platform Capabilities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57784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Document Management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0876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Check-in / Check-out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Version control &amp; history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59736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Metadata &amp; full-text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35224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Folder organization &amp; linking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914400"/>
            <a:ext cx="557784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91440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Records Management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444752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50876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Record declaration (immutable)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98424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File plan classification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459736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Retention schedules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935224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Legal hold management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5577840" cy="53035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9476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Workflow Automation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4325112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38912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Visual process design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86460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Parallel &amp; sequential routing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340096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Timer-based escalation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815584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Exception handling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794760"/>
            <a:ext cx="5577840" cy="530352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79476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Integration Capabilities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63640" y="4325112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46520" y="438912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Java API (CEJava)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486460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.NET API &amp; REST API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5340096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CMIS open standard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5815584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</a:rPr>
              <a:t>✓  IBM MQ / event-driven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Rajesh Pasham  |  Day 1: ECM &amp; FileNet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FileNet Integration Capabilities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E75B6"/>
                </a:solidFill>
              </a:rPr>
              <a:t>IBM FileNet P8 — The Content Backbone for Your Enterprise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0" y="2560320"/>
            <a:ext cx="301752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0" y="256032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IBM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FileNet P8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834640" cy="1188720"/>
          </a:xfrm>
          <a:prstGeom prst="rect">
            <a:avLst/>
          </a:prstGeom>
          <a:solidFill>
            <a:srgbClr val="EBF3FA"/>
          </a:solidFill>
          <a:ln w="12700">
            <a:solidFill>
              <a:srgbClr val="CADCF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SAP / ERP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Archive ERP docs alongside 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173736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5760" y="2926080"/>
            <a:ext cx="2834640" cy="1188720"/>
          </a:xfrm>
          <a:prstGeom prst="rect">
            <a:avLst/>
          </a:prstGeom>
          <a:solidFill>
            <a:srgbClr val="EBF3FA"/>
          </a:solidFill>
          <a:ln w="12700">
            <a:solidFill>
              <a:srgbClr val="CADCF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Salesforce / CRM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Attach contracts to opportunities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520440"/>
            <a:ext cx="173736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" y="4663440"/>
            <a:ext cx="2834640" cy="1188720"/>
          </a:xfrm>
          <a:prstGeom prst="rect">
            <a:avLst/>
          </a:prstGeom>
          <a:solidFill>
            <a:srgbClr val="EBF3FA"/>
          </a:solidFill>
          <a:ln w="12700">
            <a:solidFill>
              <a:srgbClr val="CADCF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4754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SharePoint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212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Surface FileNet content in SP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5257800"/>
            <a:ext cx="173736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052560" y="1188720"/>
            <a:ext cx="2834640" cy="1188720"/>
          </a:xfrm>
          <a:prstGeom prst="rect">
            <a:avLst/>
          </a:prstGeom>
          <a:solidFill>
            <a:srgbClr val="EBF3FA"/>
          </a:solidFill>
          <a:ln w="12700">
            <a:solidFill>
              <a:srgbClr val="CADCF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Email Systems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Email archiving and management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146304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052560" y="2926080"/>
            <a:ext cx="2834640" cy="1188720"/>
          </a:xfrm>
          <a:prstGeom prst="rect">
            <a:avLst/>
          </a:prstGeom>
          <a:solidFill>
            <a:srgbClr val="EBF3FA"/>
          </a:solidFill>
          <a:ln w="12700">
            <a:solidFill>
              <a:srgbClr val="CADCF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Java / .NET Apps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0" y="3474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Custom app integration via SDK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9520" y="3520440"/>
            <a:ext cx="146304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052560" y="4663440"/>
            <a:ext cx="2834640" cy="1188720"/>
          </a:xfrm>
          <a:prstGeom prst="rect">
            <a:avLst/>
          </a:prstGeom>
          <a:solidFill>
            <a:srgbClr val="EBF3FA"/>
          </a:solidFill>
          <a:ln w="12700">
            <a:solidFill>
              <a:srgbClr val="CADCF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0" y="4754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REST API / Mobile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0" y="5212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Modern web and mobile apps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89520" y="5257800"/>
            <a:ext cx="146304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solidFill>
            <a:srgbClr val="E8F7EE"/>
          </a:solidFill>
          <a:ln w="12700">
            <a:solidFill>
              <a:srgbClr val="A8D8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5C30"/>
                </a:solidFill>
              </a:rPr>
              <a:t>APIs: Java (CEJava)  |  .NET SDK  |  REST (ACCE)  |  CMIS  |  IBM MQ  |  Web Services (SOAP)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Rajesh Pasham  |  Day 1: ECM &amp; FileNet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Essential FileNet P8 Terminology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46304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Domain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920240" y="91440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Top-level container for all FileNet configuration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91440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914400"/>
            <a:ext cx="146304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91440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Object Store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91440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Logical repository for documents and metadata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47088"/>
            <a:ext cx="146304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47088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GCD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920240" y="184708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Global Config Database — stores domain/OS connection info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847088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847088"/>
            <a:ext cx="146304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847088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Document Class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18120" y="184708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Template defining content type and metadata structure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779776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779776"/>
            <a:ext cx="146304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79776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Property Template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920240" y="2779776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Reusable metadata field definition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2779776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2779776"/>
            <a:ext cx="146304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779776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Storage Area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18120" y="2779776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Physical location for content files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712464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712464"/>
            <a:ext cx="146304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12464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ACL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920240" y="3712464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Access Control List — security for each object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3712464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3712464"/>
            <a:ext cx="146304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712464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Version Series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818120" y="3712464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All versions of a document tracked together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645152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645152"/>
            <a:ext cx="146304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645152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Check-in/out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920240" y="464515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Locking mechanism preventing concurrent edits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63640" y="4645152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4645152"/>
            <a:ext cx="146304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4645152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ACCE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818120" y="464515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Admin Console for Content Engine (web-based admin UI)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557784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5577840"/>
            <a:ext cx="146304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557784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Subscription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920240" y="557784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Notify users when content changes occur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63640" y="557784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63640" y="5577840"/>
            <a:ext cx="146304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557784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CMIS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818120" y="557784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</a:rPr>
              <a:t>Open standard protocol for ECM integration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Rajesh Pasham  |  Day 1: ECM &amp; FileNet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Day 1 Summary — 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749808" cy="7498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80160" y="1024128"/>
            <a:ext cx="10515600" cy="713232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024128"/>
            <a:ext cx="9144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024128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</a:rPr>
              <a:t>ECM manages the full lifecycle of unstructured enterprise content — 80-90% of all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749808" cy="74980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80160" y="2029968"/>
            <a:ext cx="10515600" cy="713232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2029968"/>
            <a:ext cx="91440" cy="7132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029968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</a:rPr>
              <a:t>Content Lifecycle has 6 phases: Capture → Manage → Store → Preserve → Deliver → Dispose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749808" cy="7498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1752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280160" y="3035808"/>
            <a:ext cx="10515600" cy="713232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3035808"/>
            <a:ext cx="91440" cy="7132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3035808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</a:rPr>
              <a:t>Governance &amp; compliance (GDPR, SOX, HIPAA) are primary ECM business drivers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749808" cy="749808"/>
          </a:xfrm>
          <a:prstGeom prst="ellipse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233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280160" y="4041648"/>
            <a:ext cx="10515600" cy="713232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0" y="4041648"/>
            <a:ext cx="91440" cy="713232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4041648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</a:rPr>
              <a:t>FileNet P8 has 4 core components: CPE (foundation), PE (workflow), ICN (UI), Case Manager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5029200"/>
            <a:ext cx="749808" cy="7498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02920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280160" y="5047488"/>
            <a:ext cx="10515600" cy="713232"/>
          </a:xfrm>
          <a:prstGeom prst="rect">
            <a:avLst/>
          </a:prstGeom>
          <a:solidFill>
            <a:srgbClr val="F2F6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0160" y="5047488"/>
            <a:ext cx="914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5047488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</a:rPr>
              <a:t>Content Platform Engine is the core — everything: UI, workflow, and APIs depend on it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6080760"/>
            <a:ext cx="11430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080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Rajesh Pasham  |  Day 1: ECM &amp; FileNet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</a:rPr>
              <a:t>Day 1 Complete — Enterprise Content Management &amp; FileNet Overview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560320"/>
            <a:ext cx="7589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93C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0" y="3474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A93C"/>
                </a:solidFill>
              </a:rPr>
              <a:t>Trainer: 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34747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Rajesh Pasham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4096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A93C"/>
                </a:solidFill>
              </a:rPr>
              <a:t>Course: 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409651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IBM FileNet P8 V5.6.x Administration &amp; Development Training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471830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A93C"/>
                </a:solidFill>
              </a:rPr>
              <a:t>Day 1 of: 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471830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10 Days | 40 Hours Total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534009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A93C"/>
                </a:solidFill>
              </a:rPr>
              <a:t>Certification:  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53400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IBM C1000-074 (FileNet P8 V5.5.x Administration)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See you tomorrow for Day 2: FileNet P8 Architecture Deep Dive!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1425</Words>
  <Application>Microsoft Office PowerPoint</Application>
  <PresentationFormat>Widescreen</PresentationFormat>
  <Paragraphs>268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FileNet P8 V5.6.x — Day 1: ECM &amp; FileNet Overview</dc:title>
  <dc:subject>PptxGenJS Presentation</dc:subject>
  <dc:creator>Rajesh Pasham</dc:creator>
  <cp:lastModifiedBy>Rajesh Pasham</cp:lastModifiedBy>
  <cp:revision>3</cp:revision>
  <dcterms:created xsi:type="dcterms:W3CDTF">2026-04-05T06:53:54Z</dcterms:created>
  <dcterms:modified xsi:type="dcterms:W3CDTF">2026-04-05T13:52:47Z</dcterms:modified>
</cp:coreProperties>
</file>